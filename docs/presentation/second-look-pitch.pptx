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[0:00–0:05]</a:t>
            </a:r>
          </a:p>
          <a:p>
            <a:r>
              <a:t>Hi, I'm Ryan. This is Second Look.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[0:05–0:30]</a:t>
            </a:r>
          </a:p>
          <a:p>
            <a:r>
              <a:t>Investors selling a fund stake decide from a quarterly report that’s months old, while the companies move and the buyer revises terms. LPs sold about 125 billion dollars of fund stakes last year, and this year they’re averaging around 87 cents on the dollar, so one point of price is worth roughly 1.4 billion a year. And about 40 percent of these sellers are first-timers.</a:t>
            </a:r>
          </a:p>
          <a:p/>
          <a:p>
            <a:r>
              <a:t>TO VERIFY before presenting: $125B (Jefferies FY2025; Evercore says $120B), 87% of NAV (Jefferies H1 2026; bases may differ), ~40% first-time sellers (Future Standard). The market doc says several of these came via blogs republishing the reports. $1.4B is our derivation: $125B / 0.87 ≈ $144B of NAV ×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[0:30–0:50]</a:t>
            </a:r>
          </a:p>
          <a:p>
            <a:r>
              <a:t>Marketplaces like Nasdaq Fund Secondaries and LP Desk are built to execute the trade. Monitoring tools like Chronograph, Cobalt and Landytech work from the same periodic manager reports. Advisors use email and spreadsheets, where answers scatter. And an AI chat reads documents but keeps no record of who approved which terms.</a:t>
            </a:r>
          </a:p>
          <a:p/>
          <a:p>
            <a:r>
              <a:t>If asked: the closest comparable is DiligenceVault, which offers versioned diligence Q&amp;A and approval trails (per its own site). Our difference: the manager’s answer becomes an explicit term of this sale, and a changed term automatically retires the old approval.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[0:50–1:50] DEMO (about 60 seconds; click as you speak)</a:t>
            </a:r>
          </a:p>
          <a:p>
            <a:r>
              <a:t>The fund and deal are fictional; the game data is real. Someone offers me 700,000 dollars for my gaming-fund stake. I open Tiny Glade: real Steam reviews from before and after the last report, and Akta’s studio profile. Roundtable and Nicrron turn that evidence into a question for the manager; PRISM records the trace. I share it. As the manager: a 100,000 dollar distribution belongs to this stake. As the investor: 800,000 dollars gross. I approve version one. Now the buyer moves that distribution to themselves. Same 700,000 price, but I receive 700,000 gross, and my old approval no longer applies. I reload: the record is still here.</a:t>
            </a:r>
          </a:p>
          <a:p/>
          <a:p>
            <a:r>
              <a:t>Note: the hosted demo opens a saved review captured earlier today. Say “captured earlier today,” not “live.” If the live demo fails, use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[shown at about 1:40–1:50, or as backup if the live demo fails]</a:t>
            </a:r>
          </a:p>
          <a:p>
            <a:r>
              <a:t>Same 700,000 dollar headline, but moving one distribution changes what the seller receives by 100,000 dollars. The old approval stays on record, but it no longer applies to this version. These amounts are a fictional scenario, calculated by the server in whole cents, excluding tax, fees and timing.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[1:50–2:20]</a:t>
            </a:r>
          </a:p>
          <a:p>
            <a:r>
              <a:t>Honestly sized: for the sale decision, our reachable market is an estimated 10 to 25 million dollars a year. But one point of price on a 75 million dollar stake is about 900,000 dollars, so a small fraction of a point pays for the tool, and we’ll test pricing above our 500-dollar-a-month hypothesis. Gaming funds are our beachhead because their holdings leave public evidence. The bigger opportunity is the LP’s ongoing evidence and approval record.</a:t>
            </a:r>
          </a:p>
          <a:p/>
          <a:p>
            <a:r>
              <a:t>Do NOT state billions as our market. $10–25M is a Second Look estimate built on assumptions (share of LP teams that see an offer, average deal size, price per offer). $75M is an illustrative stake (assumption): ≈$86M NAV at 87%, so one point ≈ $0.9M. No customer interviews yet: pricing is a hypothesis to test.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[2:20–2:30]</a:t>
            </a:r>
          </a:p>
          <a:p>
            <a:r>
              <a:t>Investors approve fund sales on outdated information, and terms change under them. Second Look puts the new evidence to the manager and retires an approval the moment the terms change. We’re Mat, Ryan, Darren and Stratten. The demo link is on screen.</a:t>
            </a:r>
          </a:p>
          <a:p/>
          <a:p>
            <a:r>
              <a:t>Never show or say the access code; share it with judges privately.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lgn="l">
              <a:spcAft>
                <a:spcPts val="600"/>
              </a:spcAft>
            </a:pPr>
            <a:r>
              <a:rPr sz="1400" b="1">
                <a:solidFill>
                  <a:srgbClr val="0F6E56"/>
                </a:solidFill>
                <a:latin typeface="Arial"/>
              </a:rPr>
              <a:t>DEAL FLOW · TRACK 4: FUNDS</a:t>
            </a:r>
          </a:p>
        </p:txBody>
      </p:sp>
      <p:sp>
        <p:nvSpPr>
          <p:cNvPr id="3" name="TextBox 2"/>
          <p:cNvSpPr txBox="1"/>
          <p:nvPr/>
        </p:nvSpPr>
        <p:spPr>
          <a:xfrm>
            <a:off x="731520" y="2103120"/>
            <a:ext cx="10698480" cy="1280160"/>
          </a:xfrm>
          <a:prstGeom prst="rect">
            <a:avLst/>
          </a:prstGeom>
          <a:noFill/>
        </p:spPr>
        <p:txBody>
          <a:bodyPr wrap="square">
            <a:spAutoFit/>
          </a:bodyPr>
          <a:lstStyle/>
          <a:p>
            <a:pPr algn="l">
              <a:spcAft>
                <a:spcPts val="600"/>
              </a:spcAft>
            </a:pPr>
            <a:r>
              <a:rPr sz="6600" b="1">
                <a:solidFill>
                  <a:srgbClr val="141B2D"/>
                </a:solidFill>
                <a:latin typeface="Arial"/>
              </a:rPr>
              <a:t>Second Look</a:t>
            </a:r>
          </a:p>
        </p:txBody>
      </p:sp>
      <p:sp>
        <p:nvSpPr>
          <p:cNvPr id="4" name="TextBox 3"/>
          <p:cNvSpPr txBox="1"/>
          <p:nvPr/>
        </p:nvSpPr>
        <p:spPr>
          <a:xfrm>
            <a:off x="731520" y="3383280"/>
            <a:ext cx="10698480" cy="914400"/>
          </a:xfrm>
          <a:prstGeom prst="rect">
            <a:avLst/>
          </a:prstGeom>
          <a:noFill/>
        </p:spPr>
        <p:txBody>
          <a:bodyPr wrap="square">
            <a:spAutoFit/>
          </a:bodyPr>
          <a:lstStyle/>
          <a:p>
            <a:pPr algn="l">
              <a:spcAft>
                <a:spcPts val="600"/>
              </a:spcAft>
            </a:pPr>
            <a:r>
              <a:rPr sz="3000" b="0">
                <a:solidFill>
                  <a:srgbClr val="5B6375"/>
                </a:solidFill>
                <a:latin typeface="Arial"/>
              </a:rPr>
              <a:t>Approve the deal you are actually getting.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lgn="l">
              <a:spcAft>
                <a:spcPts val="600"/>
              </a:spcAft>
            </a:pPr>
            <a:r>
              <a:rPr sz="1400" b="1">
                <a:solidFill>
                  <a:srgbClr val="0F6E56"/>
                </a:solidFill>
                <a:latin typeface="Arial"/>
              </a:rPr>
              <a:t>THE PROBLEM</a:t>
            </a:r>
          </a:p>
        </p:txBody>
      </p:sp>
      <p:sp>
        <p:nvSpPr>
          <p:cNvPr id="3" name="TextBox 2"/>
          <p:cNvSpPr txBox="1"/>
          <p:nvPr/>
        </p:nvSpPr>
        <p:spPr>
          <a:xfrm>
            <a:off x="731520" y="731520"/>
            <a:ext cx="10698480" cy="1097280"/>
          </a:xfrm>
          <a:prstGeom prst="rect">
            <a:avLst/>
          </a:prstGeom>
          <a:noFill/>
        </p:spPr>
        <p:txBody>
          <a:bodyPr wrap="square">
            <a:spAutoFit/>
          </a:bodyPr>
          <a:lstStyle/>
          <a:p>
            <a:pPr algn="l">
              <a:spcAft>
                <a:spcPts val="600"/>
              </a:spcAft>
            </a:pPr>
            <a:r>
              <a:rPr sz="4000" b="1">
                <a:solidFill>
                  <a:srgbClr val="141B2D"/>
                </a:solidFill>
                <a:latin typeface="Arial"/>
              </a:rPr>
              <a:t>LPs sell on an old report. The deal keeps moving.</a:t>
            </a:r>
          </a:p>
        </p:txBody>
      </p:sp>
      <p:sp>
        <p:nvSpPr>
          <p:cNvPr id="4" name="TextBox 3"/>
          <p:cNvSpPr txBox="1"/>
          <p:nvPr/>
        </p:nvSpPr>
        <p:spPr>
          <a:xfrm>
            <a:off x="731520" y="2377440"/>
            <a:ext cx="2560320" cy="914400"/>
          </a:xfrm>
          <a:prstGeom prst="rect">
            <a:avLst/>
          </a:prstGeom>
          <a:noFill/>
        </p:spPr>
        <p:txBody>
          <a:bodyPr wrap="square">
            <a:spAutoFit/>
          </a:bodyPr>
          <a:lstStyle/>
          <a:p>
            <a:pPr algn="l">
              <a:spcAft>
                <a:spcPts val="600"/>
              </a:spcAft>
            </a:pPr>
            <a:r>
              <a:rPr sz="4800" b="1">
                <a:solidFill>
                  <a:srgbClr val="0F6E56"/>
                </a:solidFill>
                <a:latin typeface="Arial"/>
              </a:rPr>
              <a:t>$125B</a:t>
            </a:r>
          </a:p>
        </p:txBody>
      </p:sp>
      <p:sp>
        <p:nvSpPr>
          <p:cNvPr id="5" name="TextBox 4"/>
          <p:cNvSpPr txBox="1"/>
          <p:nvPr/>
        </p:nvSpPr>
        <p:spPr>
          <a:xfrm>
            <a:off x="731520" y="3383280"/>
            <a:ext cx="2468880" cy="1097280"/>
          </a:xfrm>
          <a:prstGeom prst="rect">
            <a:avLst/>
          </a:prstGeom>
          <a:noFill/>
        </p:spPr>
        <p:txBody>
          <a:bodyPr wrap="square">
            <a:spAutoFit/>
          </a:bodyPr>
          <a:lstStyle/>
          <a:p>
            <a:pPr algn="l">
              <a:spcAft>
                <a:spcPts val="600"/>
              </a:spcAft>
            </a:pPr>
            <a:r>
              <a:rPr sz="1700" b="0">
                <a:solidFill>
                  <a:srgbClr val="141B2D"/>
                </a:solidFill>
                <a:latin typeface="Arial"/>
              </a:rPr>
              <a:t>LP-led secondary volume, 2025</a:t>
            </a:r>
          </a:p>
        </p:txBody>
      </p:sp>
      <p:sp>
        <p:nvSpPr>
          <p:cNvPr id="6" name="TextBox 5"/>
          <p:cNvSpPr txBox="1"/>
          <p:nvPr/>
        </p:nvSpPr>
        <p:spPr>
          <a:xfrm>
            <a:off x="3474720" y="2377440"/>
            <a:ext cx="2560320" cy="914400"/>
          </a:xfrm>
          <a:prstGeom prst="rect">
            <a:avLst/>
          </a:prstGeom>
          <a:noFill/>
        </p:spPr>
        <p:txBody>
          <a:bodyPr wrap="square">
            <a:spAutoFit/>
          </a:bodyPr>
          <a:lstStyle/>
          <a:p>
            <a:pPr algn="l">
              <a:spcAft>
                <a:spcPts val="600"/>
              </a:spcAft>
            </a:pPr>
            <a:r>
              <a:rPr sz="4800" b="1">
                <a:solidFill>
                  <a:srgbClr val="0F6E56"/>
                </a:solidFill>
                <a:latin typeface="Arial"/>
              </a:rPr>
              <a:t>87%</a:t>
            </a:r>
          </a:p>
        </p:txBody>
      </p:sp>
      <p:sp>
        <p:nvSpPr>
          <p:cNvPr id="7" name="TextBox 6"/>
          <p:cNvSpPr txBox="1"/>
          <p:nvPr/>
        </p:nvSpPr>
        <p:spPr>
          <a:xfrm>
            <a:off x="3474720" y="3383280"/>
            <a:ext cx="2468880" cy="1097280"/>
          </a:xfrm>
          <a:prstGeom prst="rect">
            <a:avLst/>
          </a:prstGeom>
          <a:noFill/>
        </p:spPr>
        <p:txBody>
          <a:bodyPr wrap="square">
            <a:spAutoFit/>
          </a:bodyPr>
          <a:lstStyle/>
          <a:p>
            <a:pPr algn="l">
              <a:spcAft>
                <a:spcPts val="600"/>
              </a:spcAft>
            </a:pPr>
            <a:r>
              <a:rPr sz="1700" b="0">
                <a:solidFill>
                  <a:srgbClr val="141B2D"/>
                </a:solidFill>
                <a:latin typeface="Arial"/>
              </a:rPr>
              <a:t>average LP pricing, % of NAV, H1 2026</a:t>
            </a:r>
          </a:p>
        </p:txBody>
      </p:sp>
      <p:sp>
        <p:nvSpPr>
          <p:cNvPr id="8" name="TextBox 7"/>
          <p:cNvSpPr txBox="1"/>
          <p:nvPr/>
        </p:nvSpPr>
        <p:spPr>
          <a:xfrm>
            <a:off x="6217920" y="2377440"/>
            <a:ext cx="2560320" cy="914400"/>
          </a:xfrm>
          <a:prstGeom prst="rect">
            <a:avLst/>
          </a:prstGeom>
          <a:noFill/>
        </p:spPr>
        <p:txBody>
          <a:bodyPr wrap="square">
            <a:spAutoFit/>
          </a:bodyPr>
          <a:lstStyle/>
          <a:p>
            <a:pPr algn="l">
              <a:spcAft>
                <a:spcPts val="600"/>
              </a:spcAft>
            </a:pPr>
            <a:r>
              <a:rPr sz="4800" b="1">
                <a:solidFill>
                  <a:srgbClr val="0F6E56"/>
                </a:solidFill>
                <a:latin typeface="Arial"/>
              </a:rPr>
              <a:t>≈$1.4B</a:t>
            </a:r>
          </a:p>
        </p:txBody>
      </p:sp>
      <p:sp>
        <p:nvSpPr>
          <p:cNvPr id="9" name="TextBox 8"/>
          <p:cNvSpPr txBox="1"/>
          <p:nvPr/>
        </p:nvSpPr>
        <p:spPr>
          <a:xfrm>
            <a:off x="6217920" y="3383280"/>
            <a:ext cx="2468880" cy="1097280"/>
          </a:xfrm>
          <a:prstGeom prst="rect">
            <a:avLst/>
          </a:prstGeom>
          <a:noFill/>
        </p:spPr>
        <p:txBody>
          <a:bodyPr wrap="square">
            <a:spAutoFit/>
          </a:bodyPr>
          <a:lstStyle/>
          <a:p>
            <a:pPr algn="l">
              <a:spcAft>
                <a:spcPts val="600"/>
              </a:spcAft>
            </a:pPr>
            <a:r>
              <a:rPr sz="1700" b="0">
                <a:solidFill>
                  <a:srgbClr val="141B2D"/>
                </a:solidFill>
                <a:latin typeface="Arial"/>
              </a:rPr>
              <a:t>value of one point of price, per year</a:t>
            </a:r>
          </a:p>
        </p:txBody>
      </p:sp>
      <p:sp>
        <p:nvSpPr>
          <p:cNvPr id="10" name="TextBox 9"/>
          <p:cNvSpPr txBox="1"/>
          <p:nvPr/>
        </p:nvSpPr>
        <p:spPr>
          <a:xfrm>
            <a:off x="8961120" y="2377440"/>
            <a:ext cx="2560320" cy="914400"/>
          </a:xfrm>
          <a:prstGeom prst="rect">
            <a:avLst/>
          </a:prstGeom>
          <a:noFill/>
        </p:spPr>
        <p:txBody>
          <a:bodyPr wrap="square">
            <a:spAutoFit/>
          </a:bodyPr>
          <a:lstStyle/>
          <a:p>
            <a:pPr algn="l">
              <a:spcAft>
                <a:spcPts val="600"/>
              </a:spcAft>
            </a:pPr>
            <a:r>
              <a:rPr sz="4800" b="1">
                <a:solidFill>
                  <a:srgbClr val="0F6E56"/>
                </a:solidFill>
                <a:latin typeface="Arial"/>
              </a:rPr>
              <a:t>~40%</a:t>
            </a:r>
          </a:p>
        </p:txBody>
      </p:sp>
      <p:sp>
        <p:nvSpPr>
          <p:cNvPr id="11" name="TextBox 10"/>
          <p:cNvSpPr txBox="1"/>
          <p:nvPr/>
        </p:nvSpPr>
        <p:spPr>
          <a:xfrm>
            <a:off x="8961120" y="3383280"/>
            <a:ext cx="2468880" cy="1097280"/>
          </a:xfrm>
          <a:prstGeom prst="rect">
            <a:avLst/>
          </a:prstGeom>
          <a:noFill/>
        </p:spPr>
        <p:txBody>
          <a:bodyPr wrap="square">
            <a:spAutoFit/>
          </a:bodyPr>
          <a:lstStyle/>
          <a:p>
            <a:pPr algn="l">
              <a:spcAft>
                <a:spcPts val="600"/>
              </a:spcAft>
            </a:pPr>
            <a:r>
              <a:rPr sz="1700" b="0">
                <a:solidFill>
                  <a:srgbClr val="141B2D"/>
                </a:solidFill>
                <a:latin typeface="Arial"/>
              </a:rPr>
              <a:t>of LP-led sellers are first-timers</a:t>
            </a:r>
          </a:p>
        </p:txBody>
      </p:sp>
      <p:sp>
        <p:nvSpPr>
          <p:cNvPr id="12" name="TextBox 11"/>
          <p:cNvSpPr txBox="1"/>
          <p:nvPr/>
        </p:nvSpPr>
        <p:spPr>
          <a:xfrm>
            <a:off x="731520" y="6263640"/>
            <a:ext cx="10698480" cy="365760"/>
          </a:xfrm>
          <a:prstGeom prst="rect">
            <a:avLst/>
          </a:prstGeom>
          <a:noFill/>
        </p:spPr>
        <p:txBody>
          <a:bodyPr wrap="square">
            <a:spAutoFit/>
          </a:bodyPr>
          <a:lstStyle/>
          <a:p>
            <a:pPr algn="l">
              <a:spcAft>
                <a:spcPts val="600"/>
              </a:spcAft>
            </a:pPr>
            <a:r>
              <a:rPr sz="1100" b="0">
                <a:solidFill>
                  <a:srgbClr val="5B6375"/>
                </a:solidFill>
                <a:latin typeface="Arial"/>
              </a:rPr>
              <a:t>Sources: Jefferies Global Secondary Market Review FY2025 and July 2026 (Evercore: $120B); Future Standard. $1.4B derived: $125B ÷ 0.87 ≈ $144B NAV ×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lgn="l">
              <a:spcAft>
                <a:spcPts val="600"/>
              </a:spcAft>
            </a:pPr>
            <a:r>
              <a:rPr sz="1400" b="1">
                <a:solidFill>
                  <a:srgbClr val="0F6E56"/>
                </a:solidFill>
                <a:latin typeface="Arial"/>
              </a:rPr>
              <a:t>WHY EXISTING SOLUTIONS FALL SHORT</a:t>
            </a:r>
          </a:p>
        </p:txBody>
      </p:sp>
      <p:sp>
        <p:nvSpPr>
          <p:cNvPr id="3" name="TextBox 2"/>
          <p:cNvSpPr txBox="1"/>
          <p:nvPr/>
        </p:nvSpPr>
        <p:spPr>
          <a:xfrm>
            <a:off x="731520" y="731520"/>
            <a:ext cx="10698480" cy="1097280"/>
          </a:xfrm>
          <a:prstGeom prst="rect">
            <a:avLst/>
          </a:prstGeom>
          <a:noFill/>
        </p:spPr>
        <p:txBody>
          <a:bodyPr wrap="square">
            <a:spAutoFit/>
          </a:bodyPr>
          <a:lstStyle/>
          <a:p>
            <a:pPr algn="l">
              <a:spcAft>
                <a:spcPts val="600"/>
              </a:spcAft>
            </a:pPr>
            <a:r>
              <a:rPr sz="4000" b="1">
                <a:solidFill>
                  <a:srgbClr val="141B2D"/>
                </a:solidFill>
                <a:latin typeface="Arial"/>
              </a:rPr>
              <a:t>Today’s tools each cover part of it</a:t>
            </a:r>
          </a:p>
        </p:txBody>
      </p:sp>
      <p:sp>
        <p:nvSpPr>
          <p:cNvPr id="4" name="TextBox 3"/>
          <p:cNvSpPr txBox="1"/>
          <p:nvPr/>
        </p:nvSpPr>
        <p:spPr>
          <a:xfrm>
            <a:off x="731520" y="2011680"/>
            <a:ext cx="3840480" cy="914400"/>
          </a:xfrm>
          <a:prstGeom prst="rect">
            <a:avLst/>
          </a:prstGeom>
          <a:noFill/>
        </p:spPr>
        <p:txBody>
          <a:bodyPr wrap="square">
            <a:spAutoFit/>
          </a:bodyPr>
          <a:lstStyle/>
          <a:p>
            <a:pPr algn="l">
              <a:spcAft>
                <a:spcPts val="600"/>
              </a:spcAft>
            </a:pPr>
            <a:r>
              <a:rPr sz="2200" b="1">
                <a:solidFill>
                  <a:srgbClr val="141B2D"/>
                </a:solidFill>
                <a:latin typeface="Arial"/>
              </a:rPr>
              <a:t>Secondary marketplaces</a:t>
            </a:r>
          </a:p>
          <a:p>
            <a:pPr algn="l">
              <a:spcAft>
                <a:spcPts val="600"/>
              </a:spcAft>
            </a:pPr>
            <a:r>
              <a:rPr sz="1400" b="0">
                <a:solidFill>
                  <a:srgbClr val="5B6375"/>
                </a:solidFill>
                <a:latin typeface="Arial"/>
              </a:rPr>
              <a:t>Nasdaq Fund Secondaries, LP Desk</a:t>
            </a:r>
          </a:p>
        </p:txBody>
      </p:sp>
      <p:sp>
        <p:nvSpPr>
          <p:cNvPr id="5" name="TextBox 4"/>
          <p:cNvSpPr txBox="1"/>
          <p:nvPr/>
        </p:nvSpPr>
        <p:spPr>
          <a:xfrm>
            <a:off x="4754880" y="2057400"/>
            <a:ext cx="6766560" cy="914400"/>
          </a:xfrm>
          <a:prstGeom prst="rect">
            <a:avLst/>
          </a:prstGeom>
          <a:noFill/>
        </p:spPr>
        <p:txBody>
          <a:bodyPr wrap="square">
            <a:spAutoFit/>
          </a:bodyPr>
          <a:lstStyle/>
          <a:p>
            <a:pPr algn="l">
              <a:spcAft>
                <a:spcPts val="600"/>
              </a:spcAft>
            </a:pPr>
            <a:r>
              <a:rPr sz="2000" b="0">
                <a:solidFill>
                  <a:srgbClr val="141B2D"/>
                </a:solidFill>
                <a:latin typeface="Arial"/>
              </a:rPr>
              <a:t>Built to execute the trade, not to check the seller’s evidence</a:t>
            </a:r>
          </a:p>
        </p:txBody>
      </p:sp>
      <p:sp>
        <p:nvSpPr>
          <p:cNvPr id="6" name="TextBox 5"/>
          <p:cNvSpPr txBox="1"/>
          <p:nvPr/>
        </p:nvSpPr>
        <p:spPr>
          <a:xfrm>
            <a:off x="731520" y="3017520"/>
            <a:ext cx="3840480" cy="914400"/>
          </a:xfrm>
          <a:prstGeom prst="rect">
            <a:avLst/>
          </a:prstGeom>
          <a:noFill/>
        </p:spPr>
        <p:txBody>
          <a:bodyPr wrap="square">
            <a:spAutoFit/>
          </a:bodyPr>
          <a:lstStyle/>
          <a:p>
            <a:pPr algn="l">
              <a:spcAft>
                <a:spcPts val="600"/>
              </a:spcAft>
            </a:pPr>
            <a:r>
              <a:rPr sz="2200" b="1">
                <a:solidFill>
                  <a:srgbClr val="141B2D"/>
                </a:solidFill>
                <a:latin typeface="Arial"/>
              </a:rPr>
              <a:t>LP monitoring</a:t>
            </a:r>
          </a:p>
          <a:p>
            <a:pPr algn="l">
              <a:spcAft>
                <a:spcPts val="600"/>
              </a:spcAft>
            </a:pPr>
            <a:r>
              <a:rPr sz="1400" b="0">
                <a:solidFill>
                  <a:srgbClr val="5B6375"/>
                </a:solidFill>
                <a:latin typeface="Arial"/>
              </a:rPr>
              <a:t>Chronograph, Cobalt, Landytech</a:t>
            </a:r>
          </a:p>
        </p:txBody>
      </p:sp>
      <p:sp>
        <p:nvSpPr>
          <p:cNvPr id="7" name="TextBox 6"/>
          <p:cNvSpPr txBox="1"/>
          <p:nvPr/>
        </p:nvSpPr>
        <p:spPr>
          <a:xfrm>
            <a:off x="4754880" y="3063240"/>
            <a:ext cx="6766560" cy="914400"/>
          </a:xfrm>
          <a:prstGeom prst="rect">
            <a:avLst/>
          </a:prstGeom>
          <a:noFill/>
        </p:spPr>
        <p:txBody>
          <a:bodyPr wrap="square">
            <a:spAutoFit/>
          </a:bodyPr>
          <a:lstStyle/>
          <a:p>
            <a:pPr algn="l">
              <a:spcAft>
                <a:spcPts val="600"/>
              </a:spcAft>
            </a:pPr>
            <a:r>
              <a:rPr sz="2000" b="0">
                <a:solidFill>
                  <a:srgbClr val="141B2D"/>
                </a:solidFill>
                <a:latin typeface="Arial"/>
              </a:rPr>
              <a:t>Mainly built on periodic GP reports, not a specific sale’s terms</a:t>
            </a:r>
          </a:p>
        </p:txBody>
      </p:sp>
      <p:sp>
        <p:nvSpPr>
          <p:cNvPr id="8" name="TextBox 7"/>
          <p:cNvSpPr txBox="1"/>
          <p:nvPr/>
        </p:nvSpPr>
        <p:spPr>
          <a:xfrm>
            <a:off x="731520" y="4023360"/>
            <a:ext cx="3840480" cy="914400"/>
          </a:xfrm>
          <a:prstGeom prst="rect">
            <a:avLst/>
          </a:prstGeom>
          <a:noFill/>
        </p:spPr>
        <p:txBody>
          <a:bodyPr wrap="square">
            <a:spAutoFit/>
          </a:bodyPr>
          <a:lstStyle/>
          <a:p>
            <a:pPr algn="l">
              <a:spcAft>
                <a:spcPts val="600"/>
              </a:spcAft>
            </a:pPr>
            <a:r>
              <a:rPr sz="2200" b="1">
                <a:solidFill>
                  <a:srgbClr val="141B2D"/>
                </a:solidFill>
                <a:latin typeface="Arial"/>
              </a:rPr>
              <a:t>Advisors, email, spreadsheets</a:t>
            </a:r>
          </a:p>
        </p:txBody>
      </p:sp>
      <p:sp>
        <p:nvSpPr>
          <p:cNvPr id="9" name="TextBox 8"/>
          <p:cNvSpPr txBox="1"/>
          <p:nvPr/>
        </p:nvSpPr>
        <p:spPr>
          <a:xfrm>
            <a:off x="4754880" y="4069080"/>
            <a:ext cx="6766560" cy="914400"/>
          </a:xfrm>
          <a:prstGeom prst="rect">
            <a:avLst/>
          </a:prstGeom>
          <a:noFill/>
        </p:spPr>
        <p:txBody>
          <a:bodyPr wrap="square">
            <a:spAutoFit/>
          </a:bodyPr>
          <a:lstStyle/>
          <a:p>
            <a:pPr algn="l">
              <a:spcAft>
                <a:spcPts val="600"/>
              </a:spcAft>
            </a:pPr>
            <a:r>
              <a:rPr sz="2000" b="0">
                <a:solidFill>
                  <a:srgbClr val="141B2D"/>
                </a:solidFill>
                <a:latin typeface="Arial"/>
              </a:rPr>
              <a:t>Answers scatter; nothing flags a term change after approval</a:t>
            </a:r>
          </a:p>
        </p:txBody>
      </p:sp>
      <p:sp>
        <p:nvSpPr>
          <p:cNvPr id="10" name="TextBox 9"/>
          <p:cNvSpPr txBox="1"/>
          <p:nvPr/>
        </p:nvSpPr>
        <p:spPr>
          <a:xfrm>
            <a:off x="731520" y="5029200"/>
            <a:ext cx="3840480" cy="914400"/>
          </a:xfrm>
          <a:prstGeom prst="rect">
            <a:avLst/>
          </a:prstGeom>
          <a:noFill/>
        </p:spPr>
        <p:txBody>
          <a:bodyPr wrap="square">
            <a:spAutoFit/>
          </a:bodyPr>
          <a:lstStyle/>
          <a:p>
            <a:pPr algn="l">
              <a:spcAft>
                <a:spcPts val="600"/>
              </a:spcAft>
            </a:pPr>
            <a:r>
              <a:rPr sz="2200" b="1">
                <a:solidFill>
                  <a:srgbClr val="141B2D"/>
                </a:solidFill>
                <a:latin typeface="Arial"/>
              </a:rPr>
              <a:t>General AI chat</a:t>
            </a:r>
          </a:p>
        </p:txBody>
      </p:sp>
      <p:sp>
        <p:nvSpPr>
          <p:cNvPr id="11" name="TextBox 10"/>
          <p:cNvSpPr txBox="1"/>
          <p:nvPr/>
        </p:nvSpPr>
        <p:spPr>
          <a:xfrm>
            <a:off x="4754880" y="5074920"/>
            <a:ext cx="6766560" cy="914400"/>
          </a:xfrm>
          <a:prstGeom prst="rect">
            <a:avLst/>
          </a:prstGeom>
          <a:noFill/>
        </p:spPr>
        <p:txBody>
          <a:bodyPr wrap="square">
            <a:spAutoFit/>
          </a:bodyPr>
          <a:lstStyle/>
          <a:p>
            <a:pPr algn="l">
              <a:spcAft>
                <a:spcPts val="600"/>
              </a:spcAft>
            </a:pPr>
            <a:r>
              <a:rPr sz="2000" b="0">
                <a:solidFill>
                  <a:srgbClr val="141B2D"/>
                </a:solidFill>
                <a:latin typeface="Arial"/>
              </a:rPr>
              <a:t>Reads documents, but no shared record or versioned approvals</a:t>
            </a:r>
          </a:p>
        </p:txBody>
      </p:sp>
      <p:sp>
        <p:nvSpPr>
          <p:cNvPr id="12" name="TextBox 11"/>
          <p:cNvSpPr txBox="1"/>
          <p:nvPr/>
        </p:nvSpPr>
        <p:spPr>
          <a:xfrm>
            <a:off x="731520" y="6263640"/>
            <a:ext cx="10698480" cy="365760"/>
          </a:xfrm>
          <a:prstGeom prst="rect">
            <a:avLst/>
          </a:prstGeom>
          <a:noFill/>
        </p:spPr>
        <p:txBody>
          <a:bodyPr wrap="square">
            <a:spAutoFit/>
          </a:bodyPr>
          <a:lstStyle/>
          <a:p>
            <a:pPr algn="l">
              <a:spcAft>
                <a:spcPts val="600"/>
              </a:spcAft>
            </a:pPr>
            <a:r>
              <a:rPr sz="1100" b="0">
                <a:solidFill>
                  <a:srgbClr val="5B6375"/>
                </a:solidFill>
                <a:latin typeface="Arial"/>
              </a:rPr>
              <a:t>Closest comparable: DiligenceVault (versioned diligence Q&amp;A, approval trails). Descriptions from vendors’ public positioning; not a hands-on evaluation.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lgn="l">
              <a:spcAft>
                <a:spcPts val="600"/>
              </a:spcAft>
            </a:pPr>
            <a:r>
              <a:rPr sz="1400" b="1">
                <a:solidFill>
                  <a:srgbClr val="0F6E56"/>
                </a:solidFill>
                <a:latin typeface="Arial"/>
              </a:rPr>
              <a:t>OUR PRODUCT · DEMO</a:t>
            </a:r>
          </a:p>
        </p:txBody>
      </p:sp>
      <p:sp>
        <p:nvSpPr>
          <p:cNvPr id="3" name="TextBox 2"/>
          <p:cNvSpPr txBox="1"/>
          <p:nvPr/>
        </p:nvSpPr>
        <p:spPr>
          <a:xfrm>
            <a:off x="731520" y="731520"/>
            <a:ext cx="10698480" cy="1097280"/>
          </a:xfrm>
          <a:prstGeom prst="rect">
            <a:avLst/>
          </a:prstGeom>
          <a:noFill/>
        </p:spPr>
        <p:txBody>
          <a:bodyPr wrap="square">
            <a:spAutoFit/>
          </a:bodyPr>
          <a:lstStyle/>
          <a:p>
            <a:pPr algn="l">
              <a:spcAft>
                <a:spcPts val="600"/>
              </a:spcAft>
            </a:pPr>
            <a:r>
              <a:rPr sz="4000" b="1">
                <a:solidFill>
                  <a:srgbClr val="141B2D"/>
                </a:solidFill>
                <a:latin typeface="Arial"/>
              </a:rPr>
              <a:t>One record, from evidence to the exact deal</a:t>
            </a:r>
          </a:p>
        </p:txBody>
      </p:sp>
      <p:sp>
        <p:nvSpPr>
          <p:cNvPr id="4" name="TextBox 3"/>
          <p:cNvSpPr txBox="1"/>
          <p:nvPr/>
        </p:nvSpPr>
        <p:spPr>
          <a:xfrm>
            <a:off x="731520" y="2377440"/>
            <a:ext cx="1737360" cy="457200"/>
          </a:xfrm>
          <a:prstGeom prst="rect">
            <a:avLst/>
          </a:prstGeom>
          <a:noFill/>
        </p:spPr>
        <p:txBody>
          <a:bodyPr wrap="square">
            <a:spAutoFit/>
          </a:bodyPr>
          <a:lstStyle/>
          <a:p>
            <a:pPr algn="l">
              <a:spcAft>
                <a:spcPts val="600"/>
              </a:spcAft>
            </a:pPr>
            <a:r>
              <a:rPr sz="3000" b="1">
                <a:solidFill>
                  <a:srgbClr val="0F6E56"/>
                </a:solidFill>
                <a:latin typeface="Arial"/>
              </a:rPr>
              <a:t>1</a:t>
            </a:r>
          </a:p>
        </p:txBody>
      </p:sp>
      <p:sp>
        <p:nvSpPr>
          <p:cNvPr id="5" name="TextBox 4"/>
          <p:cNvSpPr txBox="1"/>
          <p:nvPr/>
        </p:nvSpPr>
        <p:spPr>
          <a:xfrm>
            <a:off x="731520" y="2926080"/>
            <a:ext cx="1737360" cy="1463040"/>
          </a:xfrm>
          <a:prstGeom prst="rect">
            <a:avLst/>
          </a:prstGeom>
          <a:noFill/>
        </p:spPr>
        <p:txBody>
          <a:bodyPr wrap="square">
            <a:spAutoFit/>
          </a:bodyPr>
          <a:lstStyle/>
          <a:p>
            <a:pPr algn="l">
              <a:spcAft>
                <a:spcPts val="600"/>
              </a:spcAft>
            </a:pPr>
            <a:r>
              <a:rPr sz="1800" b="1">
                <a:solidFill>
                  <a:srgbClr val="141B2D"/>
                </a:solidFill>
                <a:latin typeface="Arial"/>
              </a:rPr>
              <a:t>Real evidence</a:t>
            </a:r>
          </a:p>
          <a:p>
            <a:pPr algn="l">
              <a:spcAft>
                <a:spcPts val="600"/>
              </a:spcAft>
            </a:pPr>
            <a:r>
              <a:rPr sz="1400" b="0">
                <a:solidFill>
                  <a:srgbClr val="5B6375"/>
                </a:solidFill>
                <a:latin typeface="Arial"/>
              </a:rPr>
              <a:t>Steam + Akta</a:t>
            </a:r>
          </a:p>
        </p:txBody>
      </p:sp>
      <p:sp>
        <p:nvSpPr>
          <p:cNvPr id="6" name="TextBox 5"/>
          <p:cNvSpPr txBox="1"/>
          <p:nvPr/>
        </p:nvSpPr>
        <p:spPr>
          <a:xfrm>
            <a:off x="2606039" y="2377440"/>
            <a:ext cx="1737360" cy="457200"/>
          </a:xfrm>
          <a:prstGeom prst="rect">
            <a:avLst/>
          </a:prstGeom>
          <a:noFill/>
        </p:spPr>
        <p:txBody>
          <a:bodyPr wrap="square">
            <a:spAutoFit/>
          </a:bodyPr>
          <a:lstStyle/>
          <a:p>
            <a:pPr algn="l">
              <a:spcAft>
                <a:spcPts val="600"/>
              </a:spcAft>
            </a:pPr>
            <a:r>
              <a:rPr sz="3000" b="1">
                <a:solidFill>
                  <a:srgbClr val="0F6E56"/>
                </a:solidFill>
                <a:latin typeface="Arial"/>
              </a:rPr>
              <a:t>2</a:t>
            </a:r>
          </a:p>
        </p:txBody>
      </p:sp>
      <p:sp>
        <p:nvSpPr>
          <p:cNvPr id="7" name="TextBox 6"/>
          <p:cNvSpPr txBox="1"/>
          <p:nvPr/>
        </p:nvSpPr>
        <p:spPr>
          <a:xfrm>
            <a:off x="2606039" y="2926080"/>
            <a:ext cx="1737360" cy="1463040"/>
          </a:xfrm>
          <a:prstGeom prst="rect">
            <a:avLst/>
          </a:prstGeom>
          <a:noFill/>
        </p:spPr>
        <p:txBody>
          <a:bodyPr wrap="square">
            <a:spAutoFit/>
          </a:bodyPr>
          <a:lstStyle/>
          <a:p>
            <a:pPr algn="l">
              <a:spcAft>
                <a:spcPts val="600"/>
              </a:spcAft>
            </a:pPr>
            <a:r>
              <a:rPr sz="1800" b="1">
                <a:solidFill>
                  <a:srgbClr val="141B2D"/>
                </a:solidFill>
                <a:latin typeface="Arial"/>
              </a:rPr>
              <a:t>Question to the GP</a:t>
            </a:r>
          </a:p>
          <a:p>
            <a:pPr algn="l">
              <a:spcAft>
                <a:spcPts val="600"/>
              </a:spcAft>
            </a:pPr>
            <a:r>
              <a:rPr sz="1400" b="0">
                <a:solidFill>
                  <a:srgbClr val="5B6375"/>
                </a:solidFill>
                <a:latin typeface="Arial"/>
              </a:rPr>
              <a:t>Roundtable · Nicrron · PRISM</a:t>
            </a:r>
          </a:p>
        </p:txBody>
      </p:sp>
      <p:sp>
        <p:nvSpPr>
          <p:cNvPr id="8" name="TextBox 7"/>
          <p:cNvSpPr txBox="1"/>
          <p:nvPr/>
        </p:nvSpPr>
        <p:spPr>
          <a:xfrm>
            <a:off x="4480559" y="2377440"/>
            <a:ext cx="1737360" cy="457200"/>
          </a:xfrm>
          <a:prstGeom prst="rect">
            <a:avLst/>
          </a:prstGeom>
          <a:noFill/>
        </p:spPr>
        <p:txBody>
          <a:bodyPr wrap="square">
            <a:spAutoFit/>
          </a:bodyPr>
          <a:lstStyle/>
          <a:p>
            <a:pPr algn="l">
              <a:spcAft>
                <a:spcPts val="600"/>
              </a:spcAft>
            </a:pPr>
            <a:r>
              <a:rPr sz="3000" b="1">
                <a:solidFill>
                  <a:srgbClr val="0F6E56"/>
                </a:solidFill>
                <a:latin typeface="Arial"/>
              </a:rPr>
              <a:t>3</a:t>
            </a:r>
          </a:p>
        </p:txBody>
      </p:sp>
      <p:sp>
        <p:nvSpPr>
          <p:cNvPr id="9" name="TextBox 8"/>
          <p:cNvSpPr txBox="1"/>
          <p:nvPr/>
        </p:nvSpPr>
        <p:spPr>
          <a:xfrm>
            <a:off x="4480559" y="2926080"/>
            <a:ext cx="1737360" cy="1463040"/>
          </a:xfrm>
          <a:prstGeom prst="rect">
            <a:avLst/>
          </a:prstGeom>
          <a:noFill/>
        </p:spPr>
        <p:txBody>
          <a:bodyPr wrap="square">
            <a:spAutoFit/>
          </a:bodyPr>
          <a:lstStyle/>
          <a:p>
            <a:pPr algn="l">
              <a:spcAft>
                <a:spcPts val="600"/>
              </a:spcAft>
            </a:pPr>
            <a:r>
              <a:rPr sz="1800" b="1">
                <a:solidFill>
                  <a:srgbClr val="141B2D"/>
                </a:solidFill>
                <a:latin typeface="Arial"/>
              </a:rPr>
              <a:t>GP answers</a:t>
            </a:r>
          </a:p>
          <a:p>
            <a:pPr algn="l">
              <a:spcAft>
                <a:spcPts val="600"/>
              </a:spcAft>
            </a:pPr>
            <a:r>
              <a:rPr sz="1400" b="0">
                <a:solidFill>
                  <a:srgbClr val="5B6375"/>
                </a:solidFill>
                <a:latin typeface="Arial"/>
              </a:rPr>
              <a:t>(fictional)</a:t>
            </a:r>
          </a:p>
        </p:txBody>
      </p:sp>
      <p:sp>
        <p:nvSpPr>
          <p:cNvPr id="10" name="TextBox 9"/>
          <p:cNvSpPr txBox="1"/>
          <p:nvPr/>
        </p:nvSpPr>
        <p:spPr>
          <a:xfrm>
            <a:off x="6355079" y="2377440"/>
            <a:ext cx="1737360" cy="457200"/>
          </a:xfrm>
          <a:prstGeom prst="rect">
            <a:avLst/>
          </a:prstGeom>
          <a:noFill/>
        </p:spPr>
        <p:txBody>
          <a:bodyPr wrap="square">
            <a:spAutoFit/>
          </a:bodyPr>
          <a:lstStyle/>
          <a:p>
            <a:pPr algn="l">
              <a:spcAft>
                <a:spcPts val="600"/>
              </a:spcAft>
            </a:pPr>
            <a:r>
              <a:rPr sz="3000" b="1">
                <a:solidFill>
                  <a:srgbClr val="0F6E56"/>
                </a:solidFill>
                <a:latin typeface="Arial"/>
              </a:rPr>
              <a:t>4</a:t>
            </a:r>
          </a:p>
        </p:txBody>
      </p:sp>
      <p:sp>
        <p:nvSpPr>
          <p:cNvPr id="11" name="TextBox 10"/>
          <p:cNvSpPr txBox="1"/>
          <p:nvPr/>
        </p:nvSpPr>
        <p:spPr>
          <a:xfrm>
            <a:off x="6355079" y="2926080"/>
            <a:ext cx="1737360" cy="1463040"/>
          </a:xfrm>
          <a:prstGeom prst="rect">
            <a:avLst/>
          </a:prstGeom>
          <a:noFill/>
        </p:spPr>
        <p:txBody>
          <a:bodyPr wrap="square">
            <a:spAutoFit/>
          </a:bodyPr>
          <a:lstStyle/>
          <a:p>
            <a:pPr algn="l">
              <a:spcAft>
                <a:spcPts val="600"/>
              </a:spcAft>
            </a:pPr>
            <a:r>
              <a:rPr sz="1800" b="1">
                <a:solidFill>
                  <a:srgbClr val="141B2D"/>
                </a:solidFill>
                <a:latin typeface="Arial"/>
              </a:rPr>
              <a:t>LP approves</a:t>
            </a:r>
          </a:p>
          <a:p>
            <a:pPr algn="l">
              <a:spcAft>
                <a:spcPts val="600"/>
              </a:spcAft>
            </a:pPr>
            <a:r>
              <a:rPr sz="1400" b="0">
                <a:solidFill>
                  <a:srgbClr val="5B6375"/>
                </a:solidFill>
                <a:latin typeface="Arial"/>
              </a:rPr>
              <a:t>offer v1</a:t>
            </a:r>
          </a:p>
        </p:txBody>
      </p:sp>
      <p:sp>
        <p:nvSpPr>
          <p:cNvPr id="12" name="TextBox 11"/>
          <p:cNvSpPr txBox="1"/>
          <p:nvPr/>
        </p:nvSpPr>
        <p:spPr>
          <a:xfrm>
            <a:off x="8229600" y="2377440"/>
            <a:ext cx="1737360" cy="457200"/>
          </a:xfrm>
          <a:prstGeom prst="rect">
            <a:avLst/>
          </a:prstGeom>
          <a:noFill/>
        </p:spPr>
        <p:txBody>
          <a:bodyPr wrap="square">
            <a:spAutoFit/>
          </a:bodyPr>
          <a:lstStyle/>
          <a:p>
            <a:pPr algn="l">
              <a:spcAft>
                <a:spcPts val="600"/>
              </a:spcAft>
            </a:pPr>
            <a:r>
              <a:rPr sz="3000" b="1">
                <a:solidFill>
                  <a:srgbClr val="0F6E56"/>
                </a:solidFill>
                <a:latin typeface="Arial"/>
              </a:rPr>
              <a:t>5</a:t>
            </a:r>
          </a:p>
        </p:txBody>
      </p:sp>
      <p:sp>
        <p:nvSpPr>
          <p:cNvPr id="13" name="TextBox 12"/>
          <p:cNvSpPr txBox="1"/>
          <p:nvPr/>
        </p:nvSpPr>
        <p:spPr>
          <a:xfrm>
            <a:off x="8229600" y="2926080"/>
            <a:ext cx="1737360" cy="1463040"/>
          </a:xfrm>
          <a:prstGeom prst="rect">
            <a:avLst/>
          </a:prstGeom>
          <a:noFill/>
        </p:spPr>
        <p:txBody>
          <a:bodyPr wrap="square">
            <a:spAutoFit/>
          </a:bodyPr>
          <a:lstStyle/>
          <a:p>
            <a:pPr algn="l">
              <a:spcAft>
                <a:spcPts val="600"/>
              </a:spcAft>
            </a:pPr>
            <a:r>
              <a:rPr sz="1800" b="1">
                <a:solidFill>
                  <a:srgbClr val="141B2D"/>
                </a:solidFill>
                <a:latin typeface="Arial"/>
              </a:rPr>
              <a:t>Buyer changes</a:t>
            </a:r>
          </a:p>
          <a:p>
            <a:pPr algn="l">
              <a:spcAft>
                <a:spcPts val="600"/>
              </a:spcAft>
            </a:pPr>
            <a:r>
              <a:rPr sz="1400" b="0">
                <a:solidFill>
                  <a:srgbClr val="5B6375"/>
                </a:solidFill>
                <a:latin typeface="Arial"/>
              </a:rPr>
              <a:t>a term (v2)</a:t>
            </a:r>
          </a:p>
        </p:txBody>
      </p:sp>
      <p:sp>
        <p:nvSpPr>
          <p:cNvPr id="14" name="TextBox 13"/>
          <p:cNvSpPr txBox="1"/>
          <p:nvPr/>
        </p:nvSpPr>
        <p:spPr>
          <a:xfrm>
            <a:off x="10104120" y="2377440"/>
            <a:ext cx="1737360" cy="457200"/>
          </a:xfrm>
          <a:prstGeom prst="rect">
            <a:avLst/>
          </a:prstGeom>
          <a:noFill/>
        </p:spPr>
        <p:txBody>
          <a:bodyPr wrap="square">
            <a:spAutoFit/>
          </a:bodyPr>
          <a:lstStyle/>
          <a:p>
            <a:pPr algn="l">
              <a:spcAft>
                <a:spcPts val="600"/>
              </a:spcAft>
            </a:pPr>
            <a:r>
              <a:rPr sz="3000" b="1">
                <a:solidFill>
                  <a:srgbClr val="0F6E56"/>
                </a:solidFill>
                <a:latin typeface="Arial"/>
              </a:rPr>
              <a:t>6</a:t>
            </a:r>
          </a:p>
        </p:txBody>
      </p:sp>
      <p:sp>
        <p:nvSpPr>
          <p:cNvPr id="15" name="TextBox 14"/>
          <p:cNvSpPr txBox="1"/>
          <p:nvPr/>
        </p:nvSpPr>
        <p:spPr>
          <a:xfrm>
            <a:off x="10104120" y="2926080"/>
            <a:ext cx="1737360" cy="1463040"/>
          </a:xfrm>
          <a:prstGeom prst="rect">
            <a:avLst/>
          </a:prstGeom>
          <a:noFill/>
        </p:spPr>
        <p:txBody>
          <a:bodyPr wrap="square">
            <a:spAutoFit/>
          </a:bodyPr>
          <a:lstStyle/>
          <a:p>
            <a:pPr algn="l">
              <a:spcAft>
                <a:spcPts val="600"/>
              </a:spcAft>
            </a:pPr>
            <a:r>
              <a:rPr sz="1800" b="1">
                <a:solidFill>
                  <a:srgbClr val="141B2D"/>
                </a:solidFill>
                <a:latin typeface="Arial"/>
              </a:rPr>
              <a:t>Old approval</a:t>
            </a:r>
          </a:p>
          <a:p>
            <a:pPr algn="l">
              <a:spcAft>
                <a:spcPts val="600"/>
              </a:spcAft>
            </a:pPr>
            <a:r>
              <a:rPr sz="1400" b="0">
                <a:solidFill>
                  <a:srgbClr val="5B6375"/>
                </a:solidFill>
                <a:latin typeface="Arial"/>
              </a:rPr>
              <a:t>no longer applies</a:t>
            </a:r>
          </a:p>
        </p:txBody>
      </p:sp>
      <p:sp>
        <p:nvSpPr>
          <p:cNvPr id="16" name="TextBox 15"/>
          <p:cNvSpPr txBox="1"/>
          <p:nvPr/>
        </p:nvSpPr>
        <p:spPr>
          <a:xfrm>
            <a:off x="731520" y="4846320"/>
            <a:ext cx="10698480" cy="548640"/>
          </a:xfrm>
          <a:prstGeom prst="rect">
            <a:avLst/>
          </a:prstGeom>
          <a:noFill/>
        </p:spPr>
        <p:txBody>
          <a:bodyPr wrap="square">
            <a:spAutoFit/>
          </a:bodyPr>
          <a:lstStyle/>
          <a:p>
            <a:pPr algn="l">
              <a:spcAft>
                <a:spcPts val="600"/>
              </a:spcAft>
            </a:pPr>
            <a:r>
              <a:rPr sz="2200" b="0">
                <a:solidFill>
                  <a:srgbClr val="141B2D"/>
                </a:solidFill>
                <a:latin typeface="Arial"/>
              </a:rPr>
              <a:t>Every step is saved and survives a reload.</a:t>
            </a:r>
          </a:p>
        </p:txBody>
      </p:sp>
      <p:sp>
        <p:nvSpPr>
          <p:cNvPr id="17" name="TextBox 16"/>
          <p:cNvSpPr txBox="1"/>
          <p:nvPr/>
        </p:nvSpPr>
        <p:spPr>
          <a:xfrm>
            <a:off x="731520" y="6263640"/>
            <a:ext cx="10698480" cy="365760"/>
          </a:xfrm>
          <a:prstGeom prst="rect">
            <a:avLst/>
          </a:prstGeom>
          <a:noFill/>
        </p:spPr>
        <p:txBody>
          <a:bodyPr wrap="square">
            <a:spAutoFit/>
          </a:bodyPr>
          <a:lstStyle/>
          <a:p>
            <a:pPr algn="l">
              <a:spcAft>
                <a:spcPts val="600"/>
              </a:spcAft>
            </a:pPr>
            <a:r>
              <a:rPr sz="1100" b="0">
                <a:solidFill>
                  <a:srgbClr val="5B6375"/>
                </a:solidFill>
                <a:latin typeface="Arial"/>
              </a:rPr>
              <a:t>Real: Steam reviews and player snapshot, Akta company profiles. Fictional: the fund, its holdings, the offer and the GP’s answer. Steam data prompts questions; it is never a valuation.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lgn="l">
              <a:spcAft>
                <a:spcPts val="600"/>
              </a:spcAft>
            </a:pPr>
            <a:r>
              <a:rPr sz="1400" b="1">
                <a:solidFill>
                  <a:srgbClr val="0F6E56"/>
                </a:solidFill>
                <a:latin typeface="Arial"/>
              </a:rPr>
              <a:t>THE CONSEQUENCE</a:t>
            </a:r>
          </a:p>
        </p:txBody>
      </p:sp>
      <p:sp>
        <p:nvSpPr>
          <p:cNvPr id="3" name="TextBox 2"/>
          <p:cNvSpPr txBox="1"/>
          <p:nvPr/>
        </p:nvSpPr>
        <p:spPr>
          <a:xfrm>
            <a:off x="731520" y="731520"/>
            <a:ext cx="10698480" cy="1097280"/>
          </a:xfrm>
          <a:prstGeom prst="rect">
            <a:avLst/>
          </a:prstGeom>
          <a:noFill/>
        </p:spPr>
        <p:txBody>
          <a:bodyPr wrap="square">
            <a:spAutoFit/>
          </a:bodyPr>
          <a:lstStyle/>
          <a:p>
            <a:pPr algn="l">
              <a:spcAft>
                <a:spcPts val="600"/>
              </a:spcAft>
            </a:pPr>
            <a:r>
              <a:rPr sz="4000" b="1">
                <a:solidFill>
                  <a:srgbClr val="141B2D"/>
                </a:solidFill>
                <a:latin typeface="Arial"/>
              </a:rPr>
              <a:t>Same price. Different deal.</a:t>
            </a:r>
          </a:p>
        </p:txBody>
      </p:sp>
      <p:sp>
        <p:nvSpPr>
          <p:cNvPr id="4" name="TextBox 3"/>
          <p:cNvSpPr txBox="1"/>
          <p:nvPr/>
        </p:nvSpPr>
        <p:spPr>
          <a:xfrm>
            <a:off x="731520" y="2011680"/>
            <a:ext cx="5120640" cy="548640"/>
          </a:xfrm>
          <a:prstGeom prst="rect">
            <a:avLst/>
          </a:prstGeom>
          <a:noFill/>
        </p:spPr>
        <p:txBody>
          <a:bodyPr wrap="square">
            <a:spAutoFit/>
          </a:bodyPr>
          <a:lstStyle/>
          <a:p>
            <a:pPr algn="l">
              <a:spcAft>
                <a:spcPts val="600"/>
              </a:spcAft>
            </a:pPr>
            <a:r>
              <a:rPr sz="2000" b="1">
                <a:solidFill>
                  <a:srgbClr val="5B6375"/>
                </a:solidFill>
                <a:latin typeface="Arial"/>
              </a:rPr>
              <a:t>Offer v1 · $700,000 purchase price</a:t>
            </a:r>
          </a:p>
        </p:txBody>
      </p:sp>
      <p:sp>
        <p:nvSpPr>
          <p:cNvPr id="5" name="TextBox 4"/>
          <p:cNvSpPr txBox="1"/>
          <p:nvPr/>
        </p:nvSpPr>
        <p:spPr>
          <a:xfrm>
            <a:off x="731520" y="2560320"/>
            <a:ext cx="5120640" cy="548640"/>
          </a:xfrm>
          <a:prstGeom prst="rect">
            <a:avLst/>
          </a:prstGeom>
          <a:noFill/>
        </p:spPr>
        <p:txBody>
          <a:bodyPr wrap="square">
            <a:spAutoFit/>
          </a:bodyPr>
          <a:lstStyle/>
          <a:p>
            <a:pPr algn="l">
              <a:spcAft>
                <a:spcPts val="600"/>
              </a:spcAft>
            </a:pPr>
            <a:r>
              <a:rPr sz="2000" b="0">
                <a:solidFill>
                  <a:srgbClr val="141B2D"/>
                </a:solidFill>
                <a:latin typeface="Arial"/>
              </a:rPr>
              <a:t>Seller keeps the $100,000 distribution</a:t>
            </a:r>
          </a:p>
        </p:txBody>
      </p:sp>
      <p:sp>
        <p:nvSpPr>
          <p:cNvPr id="6" name="TextBox 5"/>
          <p:cNvSpPr txBox="1"/>
          <p:nvPr/>
        </p:nvSpPr>
        <p:spPr>
          <a:xfrm>
            <a:off x="731520" y="3200400"/>
            <a:ext cx="5120640" cy="1097280"/>
          </a:xfrm>
          <a:prstGeom prst="rect">
            <a:avLst/>
          </a:prstGeom>
          <a:noFill/>
        </p:spPr>
        <p:txBody>
          <a:bodyPr wrap="square">
            <a:spAutoFit/>
          </a:bodyPr>
          <a:lstStyle/>
          <a:p>
            <a:pPr algn="l">
              <a:spcAft>
                <a:spcPts val="600"/>
              </a:spcAft>
            </a:pPr>
            <a:r>
              <a:rPr sz="6000" b="1">
                <a:solidFill>
                  <a:srgbClr val="0F6E56"/>
                </a:solidFill>
                <a:latin typeface="Arial"/>
              </a:rPr>
              <a:t>$800,000</a:t>
            </a:r>
          </a:p>
        </p:txBody>
      </p:sp>
      <p:sp>
        <p:nvSpPr>
          <p:cNvPr id="7" name="TextBox 6"/>
          <p:cNvSpPr txBox="1"/>
          <p:nvPr/>
        </p:nvSpPr>
        <p:spPr>
          <a:xfrm>
            <a:off x="731520" y="4389120"/>
            <a:ext cx="5120640" cy="548640"/>
          </a:xfrm>
          <a:prstGeom prst="rect">
            <a:avLst/>
          </a:prstGeom>
          <a:noFill/>
        </p:spPr>
        <p:txBody>
          <a:bodyPr wrap="square">
            <a:spAutoFit/>
          </a:bodyPr>
          <a:lstStyle/>
          <a:p>
            <a:pPr algn="l">
              <a:spcAft>
                <a:spcPts val="600"/>
              </a:spcAft>
            </a:pPr>
            <a:r>
              <a:rPr sz="2000" b="1">
                <a:solidFill>
                  <a:srgbClr val="0F6E56"/>
                </a:solidFill>
                <a:latin typeface="Arial"/>
              </a:rPr>
              <a:t>Approved</a:t>
            </a:r>
          </a:p>
        </p:txBody>
      </p:sp>
      <p:sp>
        <p:nvSpPr>
          <p:cNvPr id="8" name="TextBox 7"/>
          <p:cNvSpPr txBox="1"/>
          <p:nvPr/>
        </p:nvSpPr>
        <p:spPr>
          <a:xfrm>
            <a:off x="6217920" y="2011680"/>
            <a:ext cx="5120640" cy="548640"/>
          </a:xfrm>
          <a:prstGeom prst="rect">
            <a:avLst/>
          </a:prstGeom>
          <a:noFill/>
        </p:spPr>
        <p:txBody>
          <a:bodyPr wrap="square">
            <a:spAutoFit/>
          </a:bodyPr>
          <a:lstStyle/>
          <a:p>
            <a:pPr algn="l">
              <a:spcAft>
                <a:spcPts val="600"/>
              </a:spcAft>
            </a:pPr>
            <a:r>
              <a:rPr sz="2000" b="1">
                <a:solidFill>
                  <a:srgbClr val="5B6375"/>
                </a:solidFill>
                <a:latin typeface="Arial"/>
              </a:rPr>
              <a:t>Offer v2 · $700,000 purchase price</a:t>
            </a:r>
          </a:p>
        </p:txBody>
      </p:sp>
      <p:sp>
        <p:nvSpPr>
          <p:cNvPr id="9" name="TextBox 8"/>
          <p:cNvSpPr txBox="1"/>
          <p:nvPr/>
        </p:nvSpPr>
        <p:spPr>
          <a:xfrm>
            <a:off x="6217920" y="2560320"/>
            <a:ext cx="5120640" cy="548640"/>
          </a:xfrm>
          <a:prstGeom prst="rect">
            <a:avLst/>
          </a:prstGeom>
          <a:noFill/>
        </p:spPr>
        <p:txBody>
          <a:bodyPr wrap="square">
            <a:spAutoFit/>
          </a:bodyPr>
          <a:lstStyle/>
          <a:p>
            <a:pPr algn="l">
              <a:spcAft>
                <a:spcPts val="600"/>
              </a:spcAft>
            </a:pPr>
            <a:r>
              <a:rPr sz="2000" b="0">
                <a:solidFill>
                  <a:srgbClr val="141B2D"/>
                </a:solidFill>
                <a:latin typeface="Arial"/>
              </a:rPr>
              <a:t>Buyer takes the distribution</a:t>
            </a:r>
          </a:p>
        </p:txBody>
      </p:sp>
      <p:sp>
        <p:nvSpPr>
          <p:cNvPr id="10" name="TextBox 9"/>
          <p:cNvSpPr txBox="1"/>
          <p:nvPr/>
        </p:nvSpPr>
        <p:spPr>
          <a:xfrm>
            <a:off x="6217920" y="3200400"/>
            <a:ext cx="5120640" cy="1097280"/>
          </a:xfrm>
          <a:prstGeom prst="rect">
            <a:avLst/>
          </a:prstGeom>
          <a:noFill/>
        </p:spPr>
        <p:txBody>
          <a:bodyPr wrap="square">
            <a:spAutoFit/>
          </a:bodyPr>
          <a:lstStyle/>
          <a:p>
            <a:pPr algn="l">
              <a:spcAft>
                <a:spcPts val="600"/>
              </a:spcAft>
            </a:pPr>
            <a:r>
              <a:rPr sz="6000" b="1">
                <a:solidFill>
                  <a:srgbClr val="141B2D"/>
                </a:solidFill>
                <a:latin typeface="Arial"/>
              </a:rPr>
              <a:t>$700,000</a:t>
            </a:r>
          </a:p>
        </p:txBody>
      </p:sp>
      <p:sp>
        <p:nvSpPr>
          <p:cNvPr id="11" name="TextBox 10"/>
          <p:cNvSpPr txBox="1"/>
          <p:nvPr/>
        </p:nvSpPr>
        <p:spPr>
          <a:xfrm>
            <a:off x="6217920" y="4389120"/>
            <a:ext cx="5120640" cy="548640"/>
          </a:xfrm>
          <a:prstGeom prst="rect">
            <a:avLst/>
          </a:prstGeom>
          <a:noFill/>
        </p:spPr>
        <p:txBody>
          <a:bodyPr wrap="square">
            <a:spAutoFit/>
          </a:bodyPr>
          <a:lstStyle/>
          <a:p>
            <a:pPr algn="l">
              <a:spcAft>
                <a:spcPts val="600"/>
              </a:spcAft>
            </a:pPr>
            <a:r>
              <a:rPr sz="2000" b="1">
                <a:solidFill>
                  <a:srgbClr val="B44D12"/>
                </a:solidFill>
                <a:latin typeface="Arial"/>
              </a:rPr>
              <a:t>Old approval no longer applies</a:t>
            </a:r>
          </a:p>
        </p:txBody>
      </p:sp>
      <p:sp>
        <p:nvSpPr>
          <p:cNvPr id="12" name="TextBox 11"/>
          <p:cNvSpPr txBox="1"/>
          <p:nvPr/>
        </p:nvSpPr>
        <p:spPr>
          <a:xfrm>
            <a:off x="731520" y="5212080"/>
            <a:ext cx="10698480" cy="548640"/>
          </a:xfrm>
          <a:prstGeom prst="rect">
            <a:avLst/>
          </a:prstGeom>
          <a:noFill/>
        </p:spPr>
        <p:txBody>
          <a:bodyPr wrap="square">
            <a:spAutoFit/>
          </a:bodyPr>
          <a:lstStyle/>
          <a:p>
            <a:pPr algn="l">
              <a:spcAft>
                <a:spcPts val="600"/>
              </a:spcAft>
            </a:pPr>
            <a:r>
              <a:rPr sz="2200" b="1">
                <a:solidFill>
                  <a:srgbClr val="141B2D"/>
                </a:solidFill>
                <a:latin typeface="Arial"/>
              </a:rPr>
              <a:t>Scenario gross receipts to the seller: −$100,000</a:t>
            </a:r>
          </a:p>
        </p:txBody>
      </p:sp>
      <p:sp>
        <p:nvSpPr>
          <p:cNvPr id="13" name="TextBox 12"/>
          <p:cNvSpPr txBox="1"/>
          <p:nvPr/>
        </p:nvSpPr>
        <p:spPr>
          <a:xfrm>
            <a:off x="731520" y="6263640"/>
            <a:ext cx="10698480" cy="365760"/>
          </a:xfrm>
          <a:prstGeom prst="rect">
            <a:avLst/>
          </a:prstGeom>
          <a:noFill/>
        </p:spPr>
        <p:txBody>
          <a:bodyPr wrap="square">
            <a:spAutoFit/>
          </a:bodyPr>
          <a:lstStyle/>
          <a:p>
            <a:pPr algn="l">
              <a:spcAft>
                <a:spcPts val="600"/>
              </a:spcAft>
            </a:pPr>
            <a:r>
              <a:rPr sz="1100" b="0">
                <a:solidFill>
                  <a:srgbClr val="5B6375"/>
                </a:solidFill>
                <a:latin typeface="Arial"/>
              </a:rPr>
              <a:t>FICTIONAL scenario: fund, offer and $100,000 distribution are illustrative. Server-calculated in integer cents; excludes tax, fees and timing.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lgn="l">
              <a:spcAft>
                <a:spcPts val="600"/>
              </a:spcAft>
            </a:pPr>
            <a:r>
              <a:rPr sz="1400" b="1">
                <a:solidFill>
                  <a:srgbClr val="0F6E56"/>
                </a:solidFill>
                <a:latin typeface="Arial"/>
              </a:rPr>
              <a:t>IMPACT AND MARKET</a:t>
            </a:r>
          </a:p>
        </p:txBody>
      </p:sp>
      <p:sp>
        <p:nvSpPr>
          <p:cNvPr id="3" name="TextBox 2"/>
          <p:cNvSpPr txBox="1"/>
          <p:nvPr/>
        </p:nvSpPr>
        <p:spPr>
          <a:xfrm>
            <a:off x="731520" y="731520"/>
            <a:ext cx="10698480" cy="1097280"/>
          </a:xfrm>
          <a:prstGeom prst="rect">
            <a:avLst/>
          </a:prstGeom>
          <a:noFill/>
        </p:spPr>
        <p:txBody>
          <a:bodyPr wrap="square">
            <a:spAutoFit/>
          </a:bodyPr>
          <a:lstStyle/>
          <a:p>
            <a:pPr algn="l">
              <a:spcAft>
                <a:spcPts val="600"/>
              </a:spcAft>
            </a:pPr>
            <a:r>
              <a:rPr sz="4000" b="1">
                <a:solidFill>
                  <a:srgbClr val="141B2D"/>
                </a:solidFill>
                <a:latin typeface="Arial"/>
              </a:rPr>
              <a:t>A small, high-value wedge in a large market</a:t>
            </a:r>
          </a:p>
        </p:txBody>
      </p:sp>
      <p:sp>
        <p:nvSpPr>
          <p:cNvPr id="4" name="TextBox 3"/>
          <p:cNvSpPr txBox="1"/>
          <p:nvPr/>
        </p:nvSpPr>
        <p:spPr>
          <a:xfrm>
            <a:off x="731520" y="2103120"/>
            <a:ext cx="3474720" cy="914400"/>
          </a:xfrm>
          <a:prstGeom prst="rect">
            <a:avLst/>
          </a:prstGeom>
          <a:noFill/>
        </p:spPr>
        <p:txBody>
          <a:bodyPr wrap="square">
            <a:spAutoFit/>
          </a:bodyPr>
          <a:lstStyle/>
          <a:p>
            <a:pPr algn="l">
              <a:spcAft>
                <a:spcPts val="600"/>
              </a:spcAft>
            </a:pPr>
            <a:r>
              <a:rPr sz="4000" b="1">
                <a:solidFill>
                  <a:srgbClr val="0F6E56"/>
                </a:solidFill>
                <a:latin typeface="Arial"/>
              </a:rPr>
              <a:t>$10–25M / yr</a:t>
            </a:r>
          </a:p>
        </p:txBody>
      </p:sp>
      <p:sp>
        <p:nvSpPr>
          <p:cNvPr id="5" name="TextBox 4"/>
          <p:cNvSpPr txBox="1"/>
          <p:nvPr/>
        </p:nvSpPr>
        <p:spPr>
          <a:xfrm>
            <a:off x="731520" y="3108960"/>
            <a:ext cx="3291840" cy="914400"/>
          </a:xfrm>
          <a:prstGeom prst="rect">
            <a:avLst/>
          </a:prstGeom>
          <a:noFill/>
        </p:spPr>
        <p:txBody>
          <a:bodyPr wrap="square">
            <a:spAutoFit/>
          </a:bodyPr>
          <a:lstStyle/>
          <a:p>
            <a:pPr algn="l">
              <a:spcAft>
                <a:spcPts val="600"/>
              </a:spcAft>
            </a:pPr>
            <a:r>
              <a:rPr sz="1800" b="0">
                <a:solidFill>
                  <a:srgbClr val="141B2D"/>
                </a:solidFill>
                <a:latin typeface="Arial"/>
              </a:rPr>
              <a:t>Reachable market for the sale decision</a:t>
            </a:r>
          </a:p>
        </p:txBody>
      </p:sp>
      <p:sp>
        <p:nvSpPr>
          <p:cNvPr id="6" name="TextBox 5"/>
          <p:cNvSpPr txBox="1"/>
          <p:nvPr/>
        </p:nvSpPr>
        <p:spPr>
          <a:xfrm>
            <a:off x="731520" y="3931920"/>
            <a:ext cx="3291840" cy="457200"/>
          </a:xfrm>
          <a:prstGeom prst="rect">
            <a:avLst/>
          </a:prstGeom>
          <a:noFill/>
        </p:spPr>
        <p:txBody>
          <a:bodyPr wrap="square">
            <a:spAutoFit/>
          </a:bodyPr>
          <a:lstStyle/>
          <a:p>
            <a:pPr algn="l">
              <a:spcAft>
                <a:spcPts val="600"/>
              </a:spcAft>
            </a:pPr>
            <a:r>
              <a:rPr sz="1200" b="1">
                <a:solidFill>
                  <a:srgbClr val="B44D12"/>
                </a:solidFill>
                <a:latin typeface="Arial"/>
              </a:rPr>
              <a:t>SECOND LOOK ESTIMATE</a:t>
            </a:r>
          </a:p>
        </p:txBody>
      </p:sp>
      <p:sp>
        <p:nvSpPr>
          <p:cNvPr id="7" name="TextBox 6"/>
          <p:cNvSpPr txBox="1"/>
          <p:nvPr/>
        </p:nvSpPr>
        <p:spPr>
          <a:xfrm>
            <a:off x="4389120" y="2103120"/>
            <a:ext cx="3474720" cy="914400"/>
          </a:xfrm>
          <a:prstGeom prst="rect">
            <a:avLst/>
          </a:prstGeom>
          <a:noFill/>
        </p:spPr>
        <p:txBody>
          <a:bodyPr wrap="square">
            <a:spAutoFit/>
          </a:bodyPr>
          <a:lstStyle/>
          <a:p>
            <a:pPr algn="l">
              <a:spcAft>
                <a:spcPts val="600"/>
              </a:spcAft>
            </a:pPr>
            <a:r>
              <a:rPr sz="4000" b="1">
                <a:solidFill>
                  <a:srgbClr val="0F6E56"/>
                </a:solidFill>
                <a:latin typeface="Arial"/>
              </a:rPr>
              <a:t>≈$0.9M</a:t>
            </a:r>
          </a:p>
        </p:txBody>
      </p:sp>
      <p:sp>
        <p:nvSpPr>
          <p:cNvPr id="8" name="TextBox 7"/>
          <p:cNvSpPr txBox="1"/>
          <p:nvPr/>
        </p:nvSpPr>
        <p:spPr>
          <a:xfrm>
            <a:off x="4389120" y="3108960"/>
            <a:ext cx="3291840" cy="914400"/>
          </a:xfrm>
          <a:prstGeom prst="rect">
            <a:avLst/>
          </a:prstGeom>
          <a:noFill/>
        </p:spPr>
        <p:txBody>
          <a:bodyPr wrap="square">
            <a:spAutoFit/>
          </a:bodyPr>
          <a:lstStyle/>
          <a:p>
            <a:pPr algn="l">
              <a:spcAft>
                <a:spcPts val="600"/>
              </a:spcAft>
            </a:pPr>
            <a:r>
              <a:rPr sz="1800" b="0">
                <a:solidFill>
                  <a:srgbClr val="141B2D"/>
                </a:solidFill>
                <a:latin typeface="Arial"/>
              </a:rPr>
              <a:t>One point of price on a $75M stake</a:t>
            </a:r>
          </a:p>
        </p:txBody>
      </p:sp>
      <p:sp>
        <p:nvSpPr>
          <p:cNvPr id="9" name="TextBox 8"/>
          <p:cNvSpPr txBox="1"/>
          <p:nvPr/>
        </p:nvSpPr>
        <p:spPr>
          <a:xfrm>
            <a:off x="4389120" y="3931920"/>
            <a:ext cx="3291840" cy="457200"/>
          </a:xfrm>
          <a:prstGeom prst="rect">
            <a:avLst/>
          </a:prstGeom>
          <a:noFill/>
        </p:spPr>
        <p:txBody>
          <a:bodyPr wrap="square">
            <a:spAutoFit/>
          </a:bodyPr>
          <a:lstStyle/>
          <a:p>
            <a:pPr algn="l">
              <a:spcAft>
                <a:spcPts val="600"/>
              </a:spcAft>
            </a:pPr>
            <a:r>
              <a:rPr sz="1200" b="1">
                <a:solidFill>
                  <a:srgbClr val="B44D12"/>
                </a:solidFill>
                <a:latin typeface="Arial"/>
              </a:rPr>
              <a:t>ILLUSTRATIVE</a:t>
            </a:r>
          </a:p>
        </p:txBody>
      </p:sp>
      <p:sp>
        <p:nvSpPr>
          <p:cNvPr id="10" name="TextBox 9"/>
          <p:cNvSpPr txBox="1"/>
          <p:nvPr/>
        </p:nvSpPr>
        <p:spPr>
          <a:xfrm>
            <a:off x="8046720" y="2103120"/>
            <a:ext cx="3474720" cy="914400"/>
          </a:xfrm>
          <a:prstGeom prst="rect">
            <a:avLst/>
          </a:prstGeom>
          <a:noFill/>
        </p:spPr>
        <p:txBody>
          <a:bodyPr wrap="square">
            <a:spAutoFit/>
          </a:bodyPr>
          <a:lstStyle/>
          <a:p>
            <a:pPr algn="l">
              <a:spcAft>
                <a:spcPts val="600"/>
              </a:spcAft>
            </a:pPr>
            <a:r>
              <a:rPr sz="4000" b="1">
                <a:solidFill>
                  <a:srgbClr val="0F6E56"/>
                </a:solidFill>
                <a:latin typeface="Arial"/>
              </a:rPr>
              <a:t>Gaming funds</a:t>
            </a:r>
          </a:p>
        </p:txBody>
      </p:sp>
      <p:sp>
        <p:nvSpPr>
          <p:cNvPr id="11" name="TextBox 10"/>
          <p:cNvSpPr txBox="1"/>
          <p:nvPr/>
        </p:nvSpPr>
        <p:spPr>
          <a:xfrm>
            <a:off x="8046720" y="3108960"/>
            <a:ext cx="3291840" cy="914400"/>
          </a:xfrm>
          <a:prstGeom prst="rect">
            <a:avLst/>
          </a:prstGeom>
          <a:noFill/>
        </p:spPr>
        <p:txBody>
          <a:bodyPr wrap="square">
            <a:spAutoFit/>
          </a:bodyPr>
          <a:lstStyle/>
          <a:p>
            <a:pPr algn="l">
              <a:spcAft>
                <a:spcPts val="600"/>
              </a:spcAft>
            </a:pPr>
            <a:r>
              <a:rPr sz="1800" b="0">
                <a:solidFill>
                  <a:srgbClr val="141B2D"/>
                </a:solidFill>
                <a:latin typeface="Arial"/>
              </a:rPr>
              <a:t>First beachhead: holdings with public evidence</a:t>
            </a:r>
          </a:p>
        </p:txBody>
      </p:sp>
      <p:sp>
        <p:nvSpPr>
          <p:cNvPr id="12" name="TextBox 11"/>
          <p:cNvSpPr txBox="1"/>
          <p:nvPr/>
        </p:nvSpPr>
        <p:spPr>
          <a:xfrm>
            <a:off x="8046720" y="3931920"/>
            <a:ext cx="3291840" cy="457200"/>
          </a:xfrm>
          <a:prstGeom prst="rect">
            <a:avLst/>
          </a:prstGeom>
          <a:noFill/>
        </p:spPr>
        <p:txBody>
          <a:bodyPr wrap="square">
            <a:spAutoFit/>
          </a:bodyPr>
          <a:lstStyle/>
          <a:p>
            <a:pPr algn="l">
              <a:spcAft>
                <a:spcPts val="600"/>
              </a:spcAft>
            </a:pPr>
            <a:r>
              <a:rPr sz="1200" b="1">
                <a:solidFill>
                  <a:srgbClr val="B44D12"/>
                </a:solidFill>
                <a:latin typeface="Arial"/>
              </a:rPr>
              <a:t>NOT THE TAM</a:t>
            </a:r>
          </a:p>
        </p:txBody>
      </p:sp>
      <p:sp>
        <p:nvSpPr>
          <p:cNvPr id="13" name="TextBox 12"/>
          <p:cNvSpPr txBox="1"/>
          <p:nvPr/>
        </p:nvSpPr>
        <p:spPr>
          <a:xfrm>
            <a:off x="731520" y="4754880"/>
            <a:ext cx="10698480" cy="731520"/>
          </a:xfrm>
          <a:prstGeom prst="rect">
            <a:avLst/>
          </a:prstGeom>
          <a:noFill/>
        </p:spPr>
        <p:txBody>
          <a:bodyPr wrap="square">
            <a:spAutoFit/>
          </a:bodyPr>
          <a:lstStyle/>
          <a:p>
            <a:pPr algn="l">
              <a:spcAft>
                <a:spcPts val="600"/>
              </a:spcAft>
            </a:pPr>
            <a:r>
              <a:rPr sz="2000" b="1">
                <a:solidFill>
                  <a:srgbClr val="141B2D"/>
                </a:solidFill>
                <a:latin typeface="Arial"/>
              </a:rPr>
              <a:t>Next: the LP’s ongoing evidence and approval record across all fund interests.</a:t>
            </a:r>
          </a:p>
          <a:p>
            <a:pPr algn="l">
              <a:spcAft>
                <a:spcPts val="600"/>
              </a:spcAft>
            </a:pPr>
            <a:r>
              <a:rPr sz="1600" b="0">
                <a:solidFill>
                  <a:srgbClr val="5B6375"/>
                </a:solidFill>
                <a:latin typeface="Arial"/>
              </a:rPr>
              <a:t>Pricing is a hypothesis to test: start at $500 per team per month; the value at stake suggests testing higher.</a:t>
            </a:r>
          </a:p>
        </p:txBody>
      </p:sp>
      <p:sp>
        <p:nvSpPr>
          <p:cNvPr id="14" name="TextBox 13"/>
          <p:cNvSpPr txBox="1"/>
          <p:nvPr/>
        </p:nvSpPr>
        <p:spPr>
          <a:xfrm>
            <a:off x="731520" y="6263640"/>
            <a:ext cx="10698480" cy="365760"/>
          </a:xfrm>
          <a:prstGeom prst="rect">
            <a:avLst/>
          </a:prstGeom>
          <a:noFill/>
        </p:spPr>
        <p:txBody>
          <a:bodyPr wrap="square">
            <a:spAutoFit/>
          </a:bodyPr>
          <a:lstStyle/>
          <a:p>
            <a:pPr algn="l">
              <a:spcAft>
                <a:spcPts val="600"/>
              </a:spcAft>
            </a:pPr>
            <a:r>
              <a:rPr sz="1100" b="0">
                <a:solidFill>
                  <a:srgbClr val="5B6375"/>
                </a:solidFill>
                <a:latin typeface="Arial"/>
              </a:rPr>
              <a:t>Second Look estimates (Oct 24, 2026) from stated assumptions; $75M stake is illustrative, ≈$86M NAV at Jefferies’ H1 2026 87%. $500/team/month is an untested hypothesis.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11480"/>
            <a:ext cx="10698480" cy="365760"/>
          </a:xfrm>
          <a:prstGeom prst="rect">
            <a:avLst/>
          </a:prstGeom>
          <a:noFill/>
        </p:spPr>
        <p:txBody>
          <a:bodyPr wrap="square">
            <a:spAutoFit/>
          </a:bodyPr>
          <a:lstStyle/>
          <a:p>
            <a:pPr algn="l">
              <a:spcAft>
                <a:spcPts val="600"/>
              </a:spcAft>
            </a:pPr>
            <a:r>
              <a:rPr sz="1400" b="1">
                <a:solidFill>
                  <a:srgbClr val="0F6E56"/>
                </a:solidFill>
                <a:latin typeface="Arial"/>
              </a:rPr>
              <a:t>SECOND LOOK</a:t>
            </a:r>
          </a:p>
        </p:txBody>
      </p:sp>
      <p:sp>
        <p:nvSpPr>
          <p:cNvPr id="3" name="TextBox 2"/>
          <p:cNvSpPr txBox="1"/>
          <p:nvPr/>
        </p:nvSpPr>
        <p:spPr>
          <a:xfrm>
            <a:off x="731520" y="1463040"/>
            <a:ext cx="10698480" cy="2377440"/>
          </a:xfrm>
          <a:prstGeom prst="rect">
            <a:avLst/>
          </a:prstGeom>
          <a:noFill/>
        </p:spPr>
        <p:txBody>
          <a:bodyPr wrap="square">
            <a:spAutoFit/>
          </a:bodyPr>
          <a:lstStyle/>
          <a:p>
            <a:pPr algn="l">
              <a:spcAft>
                <a:spcPts val="600"/>
              </a:spcAft>
            </a:pPr>
            <a:r>
              <a:rPr sz="3600" b="1">
                <a:solidFill>
                  <a:srgbClr val="141B2D"/>
                </a:solidFill>
                <a:latin typeface="Arial"/>
              </a:rPr>
              <a:t>Investors approve fund sales on outdated information, and terms change under them. Second Look puts the new evidence to the manager and retires an approval the moment the terms change.</a:t>
            </a:r>
          </a:p>
        </p:txBody>
      </p:sp>
      <p:sp>
        <p:nvSpPr>
          <p:cNvPr id="4" name="TextBox 3"/>
          <p:cNvSpPr txBox="1"/>
          <p:nvPr/>
        </p:nvSpPr>
        <p:spPr>
          <a:xfrm>
            <a:off x="731520" y="4206240"/>
            <a:ext cx="10698480" cy="548640"/>
          </a:xfrm>
          <a:prstGeom prst="rect">
            <a:avLst/>
          </a:prstGeom>
          <a:noFill/>
        </p:spPr>
        <p:txBody>
          <a:bodyPr wrap="square">
            <a:spAutoFit/>
          </a:bodyPr>
          <a:lstStyle/>
          <a:p>
            <a:pPr algn="l">
              <a:spcAft>
                <a:spcPts val="600"/>
              </a:spcAft>
            </a:pPr>
            <a:r>
              <a:rPr sz="2400" b="1">
                <a:solidFill>
                  <a:srgbClr val="0F6E56"/>
                </a:solidFill>
                <a:latin typeface="Arial"/>
              </a:rPr>
              <a:t>https://x1cloud.tail6fbca0.ts.net/</a:t>
            </a:r>
          </a:p>
        </p:txBody>
      </p:sp>
      <p:sp>
        <p:nvSpPr>
          <p:cNvPr id="5" name="TextBox 4"/>
          <p:cNvSpPr txBox="1"/>
          <p:nvPr/>
        </p:nvSpPr>
        <p:spPr>
          <a:xfrm>
            <a:off x="731520" y="4846320"/>
            <a:ext cx="10698480" cy="548640"/>
          </a:xfrm>
          <a:prstGeom prst="rect">
            <a:avLst/>
          </a:prstGeom>
          <a:noFill/>
        </p:spPr>
        <p:txBody>
          <a:bodyPr wrap="square">
            <a:spAutoFit/>
          </a:bodyPr>
          <a:lstStyle/>
          <a:p>
            <a:pPr algn="l">
              <a:spcAft>
                <a:spcPts val="600"/>
              </a:spcAft>
            </a:pPr>
            <a:r>
              <a:rPr sz="2000" b="0">
                <a:solidFill>
                  <a:srgbClr val="5B6375"/>
                </a:solidFill>
                <a:latin typeface="Arial"/>
              </a:rPr>
              <a:t>Mat Silverstein · Ryan · Darren · Stratten</a:t>
            </a:r>
          </a:p>
        </p:txBody>
      </p:sp>
      <p:sp>
        <p:nvSpPr>
          <p:cNvPr id="6" name="TextBox 5"/>
          <p:cNvSpPr txBox="1"/>
          <p:nvPr/>
        </p:nvSpPr>
        <p:spPr>
          <a:xfrm>
            <a:off x="731520" y="6263640"/>
            <a:ext cx="10698480" cy="365760"/>
          </a:xfrm>
          <a:prstGeom prst="rect">
            <a:avLst/>
          </a:prstGeom>
          <a:noFill/>
        </p:spPr>
        <p:txBody>
          <a:bodyPr wrap="square">
            <a:spAutoFit/>
          </a:bodyPr>
          <a:lstStyle/>
          <a:p>
            <a:pPr algn="l">
              <a:spcAft>
                <a:spcPts val="600"/>
              </a:spcAft>
            </a:pPr>
            <a:r>
              <a:rPr sz="1100" b="0">
                <a:solidFill>
                  <a:srgbClr val="5B6375"/>
                </a:solidFill>
                <a:latin typeface="Arial"/>
              </a:rPr>
              <a:t>Demo: fictional fund and deal; real Steam and Akta data. Team login required; ask us for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